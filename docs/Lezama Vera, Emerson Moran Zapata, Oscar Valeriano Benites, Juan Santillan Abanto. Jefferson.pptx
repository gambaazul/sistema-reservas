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League Spartan" charset="1" panose="00000800000000000000"/>
      <p:regular r:id="rId16"/>
    </p:embeddedFont>
    <p:embeddedFont>
      <p:font typeface="Open Sans" charset="1" panose="020B0606030504020204"/>
      <p:regular r:id="rId17"/>
    </p:embeddedFont>
    <p:embeddedFont>
      <p:font typeface="Dumondi Condensed Heavy" charset="1" panose="00000000000000000000"/>
      <p:regular r:id="rId18"/>
    </p:embeddedFont>
    <p:embeddedFont>
      <p:font typeface="Canva Sans Bold" charset="1" panose="020B0803030501040103"/>
      <p:regular r:id="rId19"/>
    </p:embeddedFont>
    <p:embeddedFont>
      <p:font typeface="Dumondi Condensed Bold" charset="1" panose="00000000000000000000"/>
      <p:regular r:id="rId20"/>
    </p:embeddedFont>
    <p:embeddedFont>
      <p:font typeface="Dumondi Condensed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2.svg" Type="http://schemas.openxmlformats.org/officeDocument/2006/relationships/image"/><Relationship Id="rId2" Target="../media/image4.jpe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svg" Type="http://schemas.openxmlformats.org/officeDocument/2006/relationships/image"/><Relationship Id="rId9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Relationship Id="rId5" Target="../media/image15.png" Type="http://schemas.openxmlformats.org/officeDocument/2006/relationships/image"/><Relationship Id="rId6" Target="../media/image16.svg" Type="http://schemas.openxmlformats.org/officeDocument/2006/relationships/image"/><Relationship Id="rId7" Target="../media/image17.pn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2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2374539" y="8993151"/>
            <a:ext cx="4284389" cy="1567256"/>
            <a:chOff x="0" y="0"/>
            <a:chExt cx="1128399" cy="412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28399" cy="412775"/>
            </a:xfrm>
            <a:custGeom>
              <a:avLst/>
              <a:gdLst/>
              <a:ahLst/>
              <a:cxnLst/>
              <a:rect r="r" b="b" t="t" l="l"/>
              <a:pathLst>
                <a:path h="412775" w="1128399">
                  <a:moveTo>
                    <a:pt x="0" y="0"/>
                  </a:moveTo>
                  <a:lnTo>
                    <a:pt x="1128399" y="0"/>
                  </a:lnTo>
                  <a:lnTo>
                    <a:pt x="1128399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1128399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5400000">
            <a:off x="14012664" y="3237235"/>
            <a:ext cx="6983416" cy="1567256"/>
            <a:chOff x="0" y="0"/>
            <a:chExt cx="1839254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839254" cy="412775"/>
            </a:xfrm>
            <a:custGeom>
              <a:avLst/>
              <a:gdLst/>
              <a:ahLst/>
              <a:cxnLst/>
              <a:rect r="r" b="b" t="t" l="l"/>
              <a:pathLst>
                <a:path h="412775" w="1839254">
                  <a:moveTo>
                    <a:pt x="0" y="0"/>
                  </a:moveTo>
                  <a:lnTo>
                    <a:pt x="1839254" y="0"/>
                  </a:lnTo>
                  <a:lnTo>
                    <a:pt x="1839254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1839254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true" flipV="true" rot="5400000">
            <a:off x="10540746" y="-52264"/>
            <a:ext cx="11547949" cy="9406329"/>
          </a:xfrm>
          <a:custGeom>
            <a:avLst/>
            <a:gdLst/>
            <a:ahLst/>
            <a:cxnLst/>
            <a:rect r="r" b="b" t="t" l="l"/>
            <a:pathLst>
              <a:path h="9406329" w="11547949">
                <a:moveTo>
                  <a:pt x="11547949" y="9406329"/>
                </a:moveTo>
                <a:lnTo>
                  <a:pt x="0" y="9406329"/>
                </a:lnTo>
                <a:lnTo>
                  <a:pt x="0" y="0"/>
                </a:lnTo>
                <a:lnTo>
                  <a:pt x="11547949" y="0"/>
                </a:lnTo>
                <a:lnTo>
                  <a:pt x="11547949" y="9406329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6613" y="4308254"/>
            <a:ext cx="11119114" cy="1606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8"/>
              </a:lnSpc>
            </a:pPr>
            <a:r>
              <a:rPr lang="en-US" sz="5301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ESCALABLE PARA REGISTRO Y EMISIÓN DE CERTIFICADOS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6613" y="3607731"/>
            <a:ext cx="11052439" cy="835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64"/>
              </a:lnSpc>
            </a:pPr>
            <a:r>
              <a:rPr lang="en-US" sz="5600" b="true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PLATAFORMA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6842011"/>
            <a:ext cx="4756684" cy="36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85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Presentado por: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7493521"/>
            <a:ext cx="4599879" cy="1214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05282" indent="-202641" lvl="1">
              <a:lnSpc>
                <a:spcPts val="2440"/>
              </a:lnSpc>
              <a:buFont typeface="Arial"/>
              <a:buChar char="•"/>
            </a:pPr>
            <a:r>
              <a:rPr lang="en-US" sz="1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Lezama Vera, Emerson</a:t>
            </a:r>
          </a:p>
          <a:p>
            <a:pPr algn="just" marL="405282" indent="-202641" lvl="1">
              <a:lnSpc>
                <a:spcPts val="2440"/>
              </a:lnSpc>
              <a:buFont typeface="Arial"/>
              <a:buChar char="•"/>
            </a:pPr>
            <a:r>
              <a:rPr lang="en-US" sz="1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Moran Zapata, Oscar</a:t>
            </a:r>
          </a:p>
          <a:p>
            <a:pPr algn="just" marL="405282" indent="-202641" lvl="1">
              <a:lnSpc>
                <a:spcPts val="2440"/>
              </a:lnSpc>
              <a:buFont typeface="Arial"/>
              <a:buChar char="•"/>
            </a:pPr>
            <a:r>
              <a:rPr lang="en-US" sz="1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Valeriano Benites, Juan</a:t>
            </a:r>
          </a:p>
          <a:p>
            <a:pPr algn="just" marL="405282" indent="-202641" lvl="1">
              <a:lnSpc>
                <a:spcPts val="2440"/>
              </a:lnSpc>
              <a:buFont typeface="Arial"/>
              <a:buChar char="•"/>
            </a:pPr>
            <a:r>
              <a:rPr lang="en-US" sz="1877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Santillan Abanto, Jefferson</a:t>
            </a:r>
          </a:p>
        </p:txBody>
      </p:sp>
      <p:sp>
        <p:nvSpPr>
          <p:cNvPr name="AutoShape 14" id="14"/>
          <p:cNvSpPr/>
          <p:nvPr/>
        </p:nvSpPr>
        <p:spPr>
          <a:xfrm flipV="true">
            <a:off x="13553005" y="935761"/>
            <a:ext cx="5036482" cy="5036482"/>
          </a:xfrm>
          <a:prstGeom prst="line">
            <a:avLst/>
          </a:prstGeom>
          <a:ln cap="flat" w="114300">
            <a:solidFill>
              <a:srgbClr val="FF9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5" id="15"/>
          <p:cNvSpPr/>
          <p:nvPr/>
        </p:nvSpPr>
        <p:spPr>
          <a:xfrm flipV="true">
            <a:off x="14602740" y="4540846"/>
            <a:ext cx="1216428" cy="1216428"/>
          </a:xfrm>
          <a:prstGeom prst="line">
            <a:avLst/>
          </a:prstGeom>
          <a:ln cap="flat" w="114300">
            <a:solidFill>
              <a:srgbClr val="FF99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V="true">
            <a:off x="12944791" y="7512571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 flipV="true">
            <a:off x="11473469" y="9776779"/>
            <a:ext cx="2942644" cy="2942644"/>
          </a:xfrm>
          <a:prstGeom prst="line">
            <a:avLst/>
          </a:prstGeom>
          <a:ln cap="flat" w="114300">
            <a:solidFill>
              <a:srgbClr val="782A8C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89707" y="142978"/>
            <a:ext cx="8454293" cy="189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01"/>
              </a:lnSpc>
              <a:spcBef>
                <a:spcPct val="0"/>
              </a:spcBef>
            </a:pPr>
            <a:r>
              <a:rPr lang="en-US" b="true" sz="13274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SUSTENTAMOS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97858" y="2670326"/>
            <a:ext cx="16161442" cy="4908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En Trujillo, más del 60% de los usuarios que acceden a cursos virtuales gratuitos lo hacen durante campañas puntuales, generando saturación y fallas en los registros.</a:t>
            </a: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El 70% de los certificados solicitados presentan demoras o errores por falta de automatización, afectando procesos educativos y laborales.</a:t>
            </a: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Hasta un 50% de usuarios abandon</a:t>
            </a: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 la plataforma cuando esta presenta lentitud o caídas durante accesos masivos.</a:t>
            </a: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Más del 40% de los correos de confirmación o certificados no llegan a tiempo, debido a procesos manuales y poca capacidad de respuesta.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2700000">
            <a:off x="57071" y="8050244"/>
            <a:ext cx="3393988" cy="1567256"/>
            <a:chOff x="0" y="0"/>
            <a:chExt cx="893890" cy="4127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2700000">
            <a:off x="14836942" y="550429"/>
            <a:ext cx="3393988" cy="1567256"/>
            <a:chOff x="0" y="0"/>
            <a:chExt cx="893890" cy="4127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93890" cy="412775"/>
            </a:xfrm>
            <a:custGeom>
              <a:avLst/>
              <a:gdLst/>
              <a:ahLst/>
              <a:cxnLst/>
              <a:rect r="r" b="b" t="t" l="l"/>
              <a:pathLst>
                <a:path h="412775" w="893890">
                  <a:moveTo>
                    <a:pt x="0" y="0"/>
                  </a:moveTo>
                  <a:lnTo>
                    <a:pt x="893890" y="0"/>
                  </a:lnTo>
                  <a:lnTo>
                    <a:pt x="893890" y="412775"/>
                  </a:lnTo>
                  <a:lnTo>
                    <a:pt x="0" y="412775"/>
                  </a:lnTo>
                  <a:close/>
                </a:path>
              </a:pathLst>
            </a:custGeom>
            <a:solidFill>
              <a:srgbClr val="EDECED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893890" cy="4604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0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515035" y="5489862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3871465" y="-189523"/>
            <a:ext cx="5098075" cy="5098075"/>
          </a:xfrm>
          <a:custGeom>
            <a:avLst/>
            <a:gdLst/>
            <a:ahLst/>
            <a:cxnLst/>
            <a:rect r="r" b="b" t="t" l="l"/>
            <a:pathLst>
              <a:path h="5098075" w="5098075">
                <a:moveTo>
                  <a:pt x="0" y="0"/>
                </a:moveTo>
                <a:lnTo>
                  <a:pt x="5098075" y="0"/>
                </a:lnTo>
                <a:lnTo>
                  <a:pt x="5098075" y="5098075"/>
                </a:lnTo>
                <a:lnTo>
                  <a:pt x="0" y="50980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289349" y="4147912"/>
            <a:ext cx="2262756" cy="2262756"/>
          </a:xfrm>
          <a:custGeom>
            <a:avLst/>
            <a:gdLst/>
            <a:ahLst/>
            <a:cxnLst/>
            <a:rect r="r" b="b" t="t" l="l"/>
            <a:pathLst>
              <a:path h="2262756" w="2262756">
                <a:moveTo>
                  <a:pt x="0" y="0"/>
                </a:moveTo>
                <a:lnTo>
                  <a:pt x="2262756" y="0"/>
                </a:lnTo>
                <a:lnTo>
                  <a:pt x="2262756" y="2262756"/>
                </a:lnTo>
                <a:lnTo>
                  <a:pt x="0" y="226275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000030" y="3953819"/>
            <a:ext cx="2287940" cy="2456849"/>
          </a:xfrm>
          <a:custGeom>
            <a:avLst/>
            <a:gdLst/>
            <a:ahLst/>
            <a:cxnLst/>
            <a:rect r="r" b="b" t="t" l="l"/>
            <a:pathLst>
              <a:path h="2456849" w="2287940">
                <a:moveTo>
                  <a:pt x="0" y="0"/>
                </a:moveTo>
                <a:lnTo>
                  <a:pt x="2287940" y="0"/>
                </a:lnTo>
                <a:lnTo>
                  <a:pt x="2287940" y="2456849"/>
                </a:lnTo>
                <a:lnTo>
                  <a:pt x="0" y="245684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737232" y="3915076"/>
            <a:ext cx="2268467" cy="2356849"/>
          </a:xfrm>
          <a:custGeom>
            <a:avLst/>
            <a:gdLst/>
            <a:ahLst/>
            <a:cxnLst/>
            <a:rect r="r" b="b" t="t" l="l"/>
            <a:pathLst>
              <a:path h="2356849" w="2268467">
                <a:moveTo>
                  <a:pt x="0" y="0"/>
                </a:moveTo>
                <a:lnTo>
                  <a:pt x="2268467" y="0"/>
                </a:lnTo>
                <a:lnTo>
                  <a:pt x="2268467" y="2356849"/>
                </a:lnTo>
                <a:lnTo>
                  <a:pt x="0" y="235684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292059"/>
            <a:ext cx="16789511" cy="2067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6312"/>
              </a:lnSpc>
              <a:spcBef>
                <a:spcPct val="0"/>
              </a:spcBef>
            </a:pPr>
            <a:r>
              <a:rPr lang="en-US" b="true" sz="13593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Problemas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89757" y="6593865"/>
            <a:ext cx="2786566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ERRORES EN REGISTROS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98845" y="6593865"/>
            <a:ext cx="3890310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PROCESOS DE CERTIFICADOS LENTO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08355" y="6377104"/>
            <a:ext cx="3403914" cy="166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05061C"/>
                </a:solidFill>
                <a:latin typeface="Open Sans"/>
                <a:ea typeface="Open Sans"/>
                <a:cs typeface="Open Sans"/>
                <a:sym typeface="Open Sans"/>
              </a:rPr>
              <a:t>SATURACIÓN DE SERVICIOS EN ALTA DEMANDA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80033" y="1423286"/>
            <a:ext cx="2039993" cy="1869144"/>
          </a:xfrm>
          <a:custGeom>
            <a:avLst/>
            <a:gdLst/>
            <a:ahLst/>
            <a:cxnLst/>
            <a:rect r="r" b="b" t="t" l="l"/>
            <a:pathLst>
              <a:path h="1869144" w="2039993">
                <a:moveTo>
                  <a:pt x="0" y="0"/>
                </a:moveTo>
                <a:lnTo>
                  <a:pt x="2039993" y="0"/>
                </a:lnTo>
                <a:lnTo>
                  <a:pt x="2039993" y="1869144"/>
                </a:lnTo>
                <a:lnTo>
                  <a:pt x="0" y="1869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450568" y="1603956"/>
            <a:ext cx="1808732" cy="1808732"/>
          </a:xfrm>
          <a:custGeom>
            <a:avLst/>
            <a:gdLst/>
            <a:ahLst/>
            <a:cxnLst/>
            <a:rect r="r" b="b" t="t" l="l"/>
            <a:pathLst>
              <a:path h="1808732" w="1808732">
                <a:moveTo>
                  <a:pt x="0" y="0"/>
                </a:moveTo>
                <a:lnTo>
                  <a:pt x="1808732" y="0"/>
                </a:lnTo>
                <a:lnTo>
                  <a:pt x="1808732" y="1808732"/>
                </a:lnTo>
                <a:lnTo>
                  <a:pt x="0" y="180873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7157920"/>
            <a:ext cx="2091326" cy="2100380"/>
          </a:xfrm>
          <a:custGeom>
            <a:avLst/>
            <a:gdLst/>
            <a:ahLst/>
            <a:cxnLst/>
            <a:rect r="r" b="b" t="t" l="l"/>
            <a:pathLst>
              <a:path h="2100380" w="2091326">
                <a:moveTo>
                  <a:pt x="0" y="0"/>
                </a:moveTo>
                <a:lnTo>
                  <a:pt x="2091326" y="0"/>
                </a:lnTo>
                <a:lnTo>
                  <a:pt x="2091326" y="2100380"/>
                </a:lnTo>
                <a:lnTo>
                  <a:pt x="0" y="210038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167559" y="7517242"/>
            <a:ext cx="2364764" cy="1741058"/>
          </a:xfrm>
          <a:custGeom>
            <a:avLst/>
            <a:gdLst/>
            <a:ahLst/>
            <a:cxnLst/>
            <a:rect r="r" b="b" t="t" l="l"/>
            <a:pathLst>
              <a:path h="1741058" w="2364764">
                <a:moveTo>
                  <a:pt x="0" y="0"/>
                </a:moveTo>
                <a:lnTo>
                  <a:pt x="2364764" y="0"/>
                </a:lnTo>
                <a:lnTo>
                  <a:pt x="2364764" y="1741058"/>
                </a:lnTo>
                <a:lnTo>
                  <a:pt x="0" y="174105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644316" y="1244736"/>
            <a:ext cx="10999368" cy="774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83"/>
              </a:lnSpc>
              <a:spcBef>
                <a:spcPct val="0"/>
              </a:spcBef>
            </a:pPr>
            <a:r>
              <a:rPr lang="en-US" b="true" sz="3559">
                <a:solidFill>
                  <a:srgbClr val="00BF63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Mejoras con una nueva infraestructura</a:t>
            </a:r>
          </a:p>
          <a:p>
            <a:pPr algn="ctr">
              <a:lnSpc>
                <a:spcPts val="4983"/>
              </a:lnSpc>
              <a:spcBef>
                <a:spcPct val="0"/>
              </a:spcBef>
            </a:pP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Escalabilidad automática ante alta demanda de usuarios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Inscripciones fluidas sin bloqueos ni caídas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Procesamiento asincrónico que evita cuellos de botella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Emisión de certificados rápida, automatizada y sin intervención manual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Envío masivo de certificados sin errores ni demoras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Alta disponibilidad y rendimiento constante, incluso en horas pico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Seguridad reforzada para proteger datos personales y académicos</a:t>
            </a:r>
          </a:p>
          <a:p>
            <a:pPr algn="just" marL="616064" indent="-308032" lvl="1">
              <a:lnSpc>
                <a:spcPts val="3994"/>
              </a:lnSpc>
              <a:buFont typeface="Arial"/>
              <a:buChar char="•"/>
            </a:pPr>
            <a:r>
              <a:rPr lang="en-US" b="true" sz="2853">
                <a:solidFill>
                  <a:srgbClr val="05061C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Reducción de carga operativa y menor mantenimiento técnico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3881" y="9525"/>
            <a:ext cx="7056314" cy="149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8"/>
              </a:lnSpc>
              <a:spcBef>
                <a:spcPct val="0"/>
              </a:spcBef>
            </a:pPr>
            <a:r>
              <a:rPr lang="en-US" b="true" sz="991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Lo que se ofrece</a:t>
            </a:r>
          </a:p>
        </p:txBody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763269" y="1453516"/>
          <a:ext cx="16761462" cy="7378060"/>
        </p:xfrm>
        <a:graphic>
          <a:graphicData uri="http://schemas.openxmlformats.org/drawingml/2006/table">
            <a:tbl>
              <a:tblPr/>
              <a:tblGrid>
                <a:gridCol w="6706692"/>
                <a:gridCol w="10054770"/>
              </a:tblGrid>
              <a:tr h="146489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Solución que da tu arquitectura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063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No tienen autenticación segura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Amazon Cognito gestiona el acceso y la autenticación de usuarios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7502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No tienen una plataforma web distribuida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CloudFront</a:t>
                      </a: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 y S3 permiten distribuir contenido web de forma rápida y segura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06380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No tienen una arquitectura desacoplada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Uso de colas (Queue Service) desacopla procesos y mejora la escalabilidad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7502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No pueden enviar notificaciones automáticas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Amazon SES se encarga del envío de correos automatizados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DE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63881" y="9525"/>
            <a:ext cx="7056314" cy="149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898"/>
              </a:lnSpc>
              <a:spcBef>
                <a:spcPct val="0"/>
              </a:spcBef>
            </a:pPr>
            <a:r>
              <a:rPr lang="en-US" b="true" sz="9915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Lo que se ofrece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63881" y="2401861"/>
          <a:ext cx="16761462" cy="4436743"/>
        </p:xfrm>
        <a:graphic>
          <a:graphicData uri="http://schemas.openxmlformats.org/drawingml/2006/table">
            <a:tbl>
              <a:tblPr/>
              <a:tblGrid>
                <a:gridCol w="6706692"/>
                <a:gridCol w="10054770"/>
              </a:tblGrid>
              <a:tr h="146994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739"/>
                        </a:lnSpc>
                        <a:defRPr/>
                      </a:pPr>
                      <a:r>
                        <a:rPr lang="en-US" sz="4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Problema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5459"/>
                        </a:lnSpc>
                        <a:defRPr/>
                      </a:pPr>
                      <a:r>
                        <a:rPr lang="en-US" sz="38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Solución que da tu arquitectura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21054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No tienen procesos automatizados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Lambda automatiza generación de certificados y registros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175624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No tienen red privada segura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339"/>
                        </a:lnSpc>
                        <a:defRPr/>
                      </a:pP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VP</a:t>
                      </a: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C</a:t>
                      </a:r>
                      <a:r>
                        <a:rPr lang="en-US" sz="3099" b="true">
                          <a:solidFill>
                            <a:srgbClr val="FFFFFF"/>
                          </a:solidFill>
                          <a:latin typeface="Dumondi Condensed Bold"/>
                          <a:ea typeface="Dumondi Condensed Bold"/>
                          <a:cs typeface="Dumondi Condensed Bold"/>
                          <a:sym typeface="Dumondi Condensed Bold"/>
                        </a:rPr>
                        <a:t> permite aislar funciones críticas del entorno público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694722" y="2139570"/>
            <a:ext cx="8898556" cy="4648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8320"/>
              </a:lnSpc>
              <a:spcBef>
                <a:spcPct val="0"/>
              </a:spcBef>
            </a:pPr>
            <a:r>
              <a:rPr lang="en-US" b="true" sz="15267">
                <a:solidFill>
                  <a:srgbClr val="000000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Diagrama de arquitectura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05787" y="6930645"/>
            <a:ext cx="6823445" cy="6128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50"/>
              </a:lnSpc>
            </a:pPr>
            <a:r>
              <a:rPr lang="en-US" sz="5000">
                <a:solidFill>
                  <a:srgbClr val="05061C"/>
                </a:solidFill>
                <a:latin typeface="Dumondi Condensed"/>
                <a:ea typeface="Dumondi Condensed"/>
                <a:cs typeface="Dumondi Condensed"/>
                <a:sym typeface="Dumondi Condensed"/>
              </a:rPr>
              <a:t>Arquitectura IaC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1158" y="1331999"/>
            <a:ext cx="15758142" cy="7623001"/>
          </a:xfrm>
          <a:custGeom>
            <a:avLst/>
            <a:gdLst/>
            <a:ahLst/>
            <a:cxnLst/>
            <a:rect r="r" b="b" t="t" l="l"/>
            <a:pathLst>
              <a:path h="7623001" w="15758142">
                <a:moveTo>
                  <a:pt x="0" y="0"/>
                </a:moveTo>
                <a:lnTo>
                  <a:pt x="15758142" y="0"/>
                </a:lnTo>
                <a:lnTo>
                  <a:pt x="15758142" y="7623002"/>
                </a:lnTo>
                <a:lnTo>
                  <a:pt x="0" y="76230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44" t="0" r="-224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852160" y="3576427"/>
            <a:ext cx="6024773" cy="6024773"/>
          </a:xfrm>
          <a:custGeom>
            <a:avLst/>
            <a:gdLst/>
            <a:ahLst/>
            <a:cxnLst/>
            <a:rect r="r" b="b" t="t" l="l"/>
            <a:pathLst>
              <a:path h="6024773" w="6024773">
                <a:moveTo>
                  <a:pt x="0" y="0"/>
                </a:moveTo>
                <a:lnTo>
                  <a:pt x="6024773" y="0"/>
                </a:lnTo>
                <a:lnTo>
                  <a:pt x="6024773" y="6024773"/>
                </a:lnTo>
                <a:lnTo>
                  <a:pt x="0" y="60247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64723" y="668488"/>
            <a:ext cx="16958554" cy="1912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3977"/>
              </a:lnSpc>
            </a:pPr>
            <a:r>
              <a:rPr lang="en-US" b="true" sz="15359">
                <a:solidFill>
                  <a:srgbClr val="000000"/>
                </a:solidFill>
                <a:latin typeface="Dumondi Condensed Bold"/>
                <a:ea typeface="Dumondi Condensed Bold"/>
                <a:cs typeface="Dumondi Condensed Bold"/>
                <a:sym typeface="Dumondi Condensed Bold"/>
              </a:rPr>
              <a:t>PASAMOS AL DESPLIEGUE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97858" y="2670326"/>
            <a:ext cx="16161442" cy="530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https://github.com/Emerson-Lezama/Proyecto_IAC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EDEC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80738" y="1614220"/>
            <a:ext cx="16161442" cy="76440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8"/>
              </a:lnSpc>
            </a:pP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https://www.semanticscholar.org/paper/Comercio-electr%C3%B3nico-en-el-Per%C3%BA%3A-un-an%C3%A1lisis-de-su-y-P%C3%A9rez/8b10c28d1fd13b158d722fc6e45c02482bcb9b18</a:t>
            </a: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https://www.semanticscholar.org/paper/Transformaci%C3%B3n-digital-en-la-educaci%C3%B3n-superior-en-en-Collazos-Vel%C3%A1squez/f9aa47e81204ad109b00c4c8ad42ef94c8cf2df3</a:t>
            </a: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https://www.semanticscholar.org/paper/Infraestructura-TIC-en-el-Per%C3%BA%3A-un-desaf%C3%ADo-para-la-en-Paniagua-Tello/44ac1c4fcfd51003cc31b8cc20e781bd32c0556e</a:t>
            </a:r>
          </a:p>
          <a:p>
            <a:pPr algn="l" marL="710688" indent="-355344" lvl="1">
              <a:lnSpc>
                <a:spcPts val="4378"/>
              </a:lnSpc>
              <a:buFont typeface="Arial"/>
              <a:buChar char="•"/>
            </a:pPr>
            <a:r>
              <a:rPr lang="en-US" b="true" sz="3291">
                <a:solidFill>
                  <a:srgbClr val="05061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https://www.semanticscholar.org/paper/Gesti%C3%B3n-p%C3%BAblica-y-digitalizaci%C3%B3n-en-las-del-Castro-Jara/109421ac6d89c8b75ad4e01a4cd3a423c931f47b</a:t>
            </a:r>
          </a:p>
          <a:p>
            <a:pPr algn="l">
              <a:lnSpc>
                <a:spcPts val="4378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689707" y="142978"/>
            <a:ext cx="8454293" cy="18952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601"/>
              </a:lnSpc>
              <a:spcBef>
                <a:spcPct val="0"/>
              </a:spcBef>
            </a:pPr>
            <a:r>
              <a:rPr lang="en-US" b="true" sz="13274">
                <a:solidFill>
                  <a:srgbClr val="05061C"/>
                </a:solidFill>
                <a:latin typeface="Dumondi Condensed Heavy"/>
                <a:ea typeface="Dumondi Condensed Heavy"/>
                <a:cs typeface="Dumondi Condensed Heavy"/>
                <a:sym typeface="Dumondi Condensed Heavy"/>
              </a:rPr>
              <a:t>BIBLIOGRAFÍA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DAGm5KaKAvs</dc:identifier>
  <dcterms:modified xsi:type="dcterms:W3CDTF">2011-08-01T06:04:30Z</dcterms:modified>
  <cp:revision>1</cp:revision>
  <dc:title>Lezama Vera, Emerson Moran Zapata, Oscar Valeriano Benites, Juan Santillan Abanto. Jefferson</dc:title>
</cp:coreProperties>
</file>